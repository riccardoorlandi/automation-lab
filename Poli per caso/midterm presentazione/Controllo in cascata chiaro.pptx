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2"/>
  </p:notesMasterIdLst>
  <p:sldIdLst>
    <p:sldId id="256" r:id="rId2"/>
    <p:sldId id="259" r:id="rId3"/>
    <p:sldId id="263" r:id="rId4"/>
    <p:sldId id="257" r:id="rId5"/>
    <p:sldId id="272" r:id="rId6"/>
    <p:sldId id="271" r:id="rId7"/>
    <p:sldId id="278" r:id="rId8"/>
    <p:sldId id="279" r:id="rId9"/>
    <p:sldId id="258" r:id="rId10"/>
    <p:sldId id="273" r:id="rId11"/>
    <p:sldId id="264" r:id="rId12"/>
    <p:sldId id="274" r:id="rId13"/>
    <p:sldId id="275" r:id="rId14"/>
    <p:sldId id="276" r:id="rId15"/>
    <p:sldId id="265" r:id="rId16"/>
    <p:sldId id="277" r:id="rId17"/>
    <p:sldId id="268" r:id="rId18"/>
    <p:sldId id="267" r:id="rId19"/>
    <p:sldId id="269" r:id="rId20"/>
    <p:sldId id="262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5EDD4-5CBD-4E7E-B9F6-7542EBDDEC22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88709-CF36-4E88-9E8C-103AF727B5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130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832E2-7F6E-79CB-9D6A-AE347BCFD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E6DA69E-BB4E-56C9-BA64-CF8A092AA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9CD15A-EC55-250F-45B5-32C51BE3D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C7BE24-D411-511A-2AC4-CDBC02D94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26E8AB-73D6-C51F-1FC0-E69D1EC2F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3214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EE615F-B566-C8C0-9E5C-1A322DD0B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75E236-2BBD-E939-7A04-46E4CFE33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5B4664-9C96-777D-23D1-F7B1B19A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743FC7-DF53-632F-8C2E-5F99FEE3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7D7FD2-B97B-A981-25F5-4C3F6137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94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5BB61F-CB56-31A9-9758-987CC7D0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33D1BC2-F90A-B345-848A-CA0AA77E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A2567A-7D58-CF86-C963-E6BE4953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D27FB8-50EE-8205-FA1C-1B9F0CFF9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04A842-0323-C726-7976-53C7B5CD8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386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34CF4E-A31B-A74D-3F74-32C4BAF30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F67A37-781F-B9E2-EF01-CDBCBAF67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B97A562-F232-C662-D5F1-6476731DE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608AB2-1C42-CD81-64BA-06A8FD8E4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F71AE0C-9AC9-A212-AB88-CA4ED8E4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CA1ACE-AC40-DF45-2511-EDDB42EB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367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0F80AD-67E3-6E04-EAE1-C97AF107A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F04EB44-6381-FD5E-2F81-34746CEC2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7874D5-7D43-C99B-D9DC-FC998B4F0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67AD2A6-C379-1175-36F8-E67650F57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D5D72F1-A0CB-B2E1-209A-1BFD3EB81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DD423C6-16E5-24E6-7E54-B64B3543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6D70885-6166-E4EF-8877-117BD864D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3A1FF12-B934-9F24-E81A-6DF063FB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701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8FA012-A1E1-4DCE-9273-40082830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F7F9C10-3DD0-BF9A-9162-A0E6838AF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278597D-0D4A-DF96-2241-B37EF9B34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DEAAF8-127C-20D6-913A-84A3A5D21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009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8ED2213-6A10-70E6-3B01-B1EE13AC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3BF1B04-37F3-D8DF-1E69-B8EC86FD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40BEA6-14D2-B960-6E89-D56EEA65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338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74CE84-A81C-640B-655F-5093F93D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F678572-AF6E-60EE-E717-9EE2F32B9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446DBC6-9D78-46AC-DCA5-75036985E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6977B91-8096-0680-CA03-6F5F6FC1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B38231C-5688-812E-3799-229F745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D409145-CCF3-432E-2F8D-84AE73A1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698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C4A82F-AE58-53E1-567A-7A05C8475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E306FC2-20FA-ED8A-8C1E-E7676025D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13D8CC1-5595-7407-3079-1BEA8926B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6033BF-D718-3968-49F6-176548960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B579267-C091-0357-8F61-1EB4BE5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F7CA6CC-C696-7362-81ED-A2F1AF82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731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721D6D-023A-375F-4FA6-0026DE6F9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12622E8-F6E4-E3D7-F9CA-F3B5E731E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AD1128-02D1-D495-F36A-8D206EB0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E5C598-C4CB-6BB6-94FE-360EAC76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1D7CFF-0A08-E645-E9AC-F6F59969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949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22CBCC1-34AA-BC86-E852-E4A62CE48E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9402E25-8C57-FAF5-2E38-EE7015238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B69399-7B41-D26E-7CAF-087EE161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9F2633-709B-3C59-6C9E-111759D5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9693A1-FD99-5663-91BC-AEF150C3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013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CA8512B-42B0-208A-D480-B03F7D15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037FE5-629A-88D5-401D-12BFB4BA1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C04187-3C7C-897E-62CB-FA401107E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EA80D-BF04-4C73-96FA-3DB745680143}" type="datetimeFigureOut">
              <a:rPr lang="it-IT" smtClean="0"/>
              <a:t>09/04/2025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50A86C-C4D0-E58B-CA8E-D5FD700981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7CA8774-B14B-42FF-3E92-5B4436943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D47078-D995-4E93-A7DF-B75F7F91B56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859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280EE9-8687-BBD4-2F1C-D029DF6D72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Controllo in cascata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423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214E09-FBED-D2F2-6A26-BEB4467E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Possibili Controllori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C7697B-E037-9D97-0B00-754FC9E7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Anello interno rimane lo stesso</a:t>
            </a:r>
          </a:p>
          <a:p>
            <a:r>
              <a:rPr lang="it-IT" sz="2400" dirty="0"/>
              <a:t>Anello esterno:</a:t>
            </a:r>
          </a:p>
          <a:p>
            <a:pPr lvl="1"/>
            <a:r>
              <a:rPr lang="it-IT" sz="2000" dirty="0"/>
              <a:t>Un anello unico con integratore e stabilizzatore</a:t>
            </a:r>
          </a:p>
          <a:p>
            <a:pPr lvl="1"/>
            <a:r>
              <a:rPr lang="it-IT" sz="2000" dirty="0"/>
              <a:t>2 anelli uno che stabilizza e uno che fa il tracking</a:t>
            </a:r>
          </a:p>
          <a:p>
            <a:pPr lvl="1"/>
            <a:r>
              <a:rPr lang="it-IT" sz="2000" dirty="0"/>
              <a:t>Un anello che stabilizza con gain diverso da 1 e compensatore statico esterno</a:t>
            </a:r>
          </a:p>
        </p:txBody>
      </p:sp>
    </p:spTree>
    <p:extLst>
      <p:ext uri="{BB962C8B-B14F-4D97-AF65-F5344CB8AC3E}">
        <p14:creationId xmlns:p14="http://schemas.microsoft.com/office/powerpoint/2010/main" val="304286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038B9E4-6EE7-85EC-466A-8C7434B4A08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it-IT" dirty="0"/>
                  <a:t>Controllore elettrico anello interno:</a:t>
                </a:r>
                <a:br>
                  <a:rPr lang="it-IT" dirty="0"/>
                </a:br>
                <a:r>
                  <a:rPr lang="it-IT" dirty="0"/>
                  <a:t>Limitazione per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0038B9E4-6EE7-85EC-466A-8C7434B4A0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903" b="-216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Segnaposto contenuto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33B3A38-F63A-D8E2-4DCD-723BEB04F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46" y="1869871"/>
            <a:ext cx="5801784" cy="4351338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7EB488D-4316-1EF9-907A-CAA5FAE1AC57}"/>
                  </a:ext>
                </a:extLst>
              </p:cNvPr>
              <p:cNvSpPr txBox="1"/>
              <p:nvPr/>
            </p:nvSpPr>
            <p:spPr>
              <a:xfrm>
                <a:off x="7049729" y="3057276"/>
                <a:ext cx="468545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2000" dirty="0"/>
                  <a:t>Da intorno i 200 rad/s il modello degrada </a:t>
                </a:r>
              </a:p>
              <a:p>
                <a:r>
                  <a:rPr lang="it-IT" sz="2000" dirty="0"/>
                  <a:t>con dei ritardi di fase importanti</a:t>
                </a:r>
              </a:p>
              <a:p>
                <a:endParaRPr lang="it-IT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2000"/>
                        </m:ctrlPr>
                      </m:sSubPr>
                      <m:e>
                        <m:r>
                          <a:rPr lang="it-IT" sz="2000"/>
                          <m:t>𝑤</m:t>
                        </m:r>
                      </m:e>
                      <m:sub>
                        <m:r>
                          <a:rPr lang="it-IT" sz="2000"/>
                          <m:t>𝑐</m:t>
                        </m:r>
                      </m:sub>
                    </m:sSub>
                  </m:oMath>
                </a14:m>
                <a:r>
                  <a:rPr lang="it-IT" sz="2000" dirty="0"/>
                  <a:t> suggerita:130 rad/s</a:t>
                </a:r>
              </a:p>
            </p:txBody>
          </p:sp>
        </mc:Choice>
        <mc:Fallback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7EB488D-4316-1EF9-907A-CAA5FAE1A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9729" y="3057276"/>
                <a:ext cx="4685450" cy="1323439"/>
              </a:xfrm>
              <a:prstGeom prst="rect">
                <a:avLst/>
              </a:prstGeom>
              <a:blipFill>
                <a:blip r:embed="rId4"/>
                <a:stretch>
                  <a:fillRect l="-1300" t="-2765" r="-390" b="-783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66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A38CA7-DC03-4AD9-7471-F5A34350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Controllore elettrico anello interno</a:t>
            </a:r>
          </a:p>
        </p:txBody>
      </p:sp>
      <p:pic>
        <p:nvPicPr>
          <p:cNvPr id="5" name="Segnaposto contenuto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2BBCE31-CBAD-D61C-D755-F242A05E9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63" y="1779981"/>
            <a:ext cx="5333333" cy="4000000"/>
          </a:xfr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8619614-A8ED-38E2-96C4-3F299046BA6B}"/>
              </a:ext>
            </a:extLst>
          </p:cNvPr>
          <p:cNvSpPr txBox="1"/>
          <p:nvPr/>
        </p:nvSpPr>
        <p:spPr>
          <a:xfrm>
            <a:off x="6548284" y="4074446"/>
            <a:ext cx="3613233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indent="-285750">
              <a:buFontTx/>
              <a:buChar char="-"/>
            </a:pPr>
            <a:r>
              <a:rPr lang="it-IT" sz="2000" dirty="0"/>
              <a:t>Margine di fase = 81.9°</a:t>
            </a:r>
          </a:p>
          <a:p>
            <a:pPr indent="-285750">
              <a:buFontTx/>
              <a:buChar char="-"/>
            </a:pPr>
            <a:r>
              <a:rPr lang="it-IT" sz="2000" dirty="0"/>
              <a:t>Wc = 129 rad/s</a:t>
            </a:r>
          </a:p>
          <a:p>
            <a:pPr indent="-285750">
              <a:buFontTx/>
              <a:buChar char="-"/>
            </a:pPr>
            <a:r>
              <a:rPr lang="it-IT" sz="2000" dirty="0"/>
              <a:t>Tempo assestamento = 0.1 s</a:t>
            </a:r>
          </a:p>
          <a:p>
            <a:pPr indent="-285750">
              <a:buFontTx/>
              <a:buChar char="-"/>
            </a:pPr>
            <a:r>
              <a:rPr lang="it-IT" sz="2000" dirty="0"/>
              <a:t>Smorzamento = 0.99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159CA95-4526-136E-943D-0D5E16B4890B}"/>
              </a:ext>
            </a:extLst>
          </p:cNvPr>
          <p:cNvSpPr txBox="1"/>
          <p:nvPr/>
        </p:nvSpPr>
        <p:spPr>
          <a:xfrm>
            <a:off x="6548284" y="5846544"/>
            <a:ext cx="4360617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indent="-285750">
              <a:buFontTx/>
              <a:buChar char="-"/>
            </a:pPr>
            <a:r>
              <a:rPr lang="it-IT" sz="2000" dirty="0"/>
              <a:t>Requisito per il controllore esterno:</a:t>
            </a:r>
          </a:p>
          <a:p>
            <a:pPr indent="-285750">
              <a:buFontTx/>
              <a:buChar char="-"/>
            </a:pPr>
            <a:r>
              <a:rPr lang="it-IT" sz="2000" dirty="0"/>
              <a:t>Wc &lt; 12.9 rad/s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F82EAA6-4E32-43BF-4DD0-575348735CEB}"/>
                  </a:ext>
                </a:extLst>
              </p:cNvPr>
              <p:cNvSpPr txBox="1"/>
              <p:nvPr/>
            </p:nvSpPr>
            <p:spPr>
              <a:xfrm>
                <a:off x="6304270" y="1460115"/>
                <a:ext cx="5049530" cy="2019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/>
                  <a:t>Controllore PI (</a:t>
                </a:r>
                <a:r>
                  <a:rPr lang="it-IT" sz="2000" dirty="0" err="1"/>
                  <a:t>kp</a:t>
                </a:r>
                <a:r>
                  <a:rPr lang="it-IT" sz="2000" dirty="0"/>
                  <a:t> = 46, </a:t>
                </a:r>
                <a:r>
                  <a:rPr lang="it-IT" sz="2000" dirty="0" err="1"/>
                  <a:t>ki</a:t>
                </a:r>
                <a:r>
                  <a:rPr lang="it-IT" sz="2000" dirty="0"/>
                  <a:t> = 2118)</a:t>
                </a:r>
              </a:p>
              <a:p>
                <a:endParaRPr lang="it-IT" sz="2000" dirty="0"/>
              </a:p>
              <a:p>
                <a:r>
                  <a:rPr lang="it-IT" sz="2000" dirty="0"/>
                  <a:t>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000"/>
                        </m:ctrlPr>
                      </m:fPr>
                      <m:num>
                        <m:r>
                          <m:rPr>
                            <m:nor/>
                          </m:rPr>
                          <a:rPr lang="it-IT" sz="2000" dirty="0"/>
                          <m:t>46.02</m:t>
                        </m:r>
                        <m:r>
                          <m:rPr>
                            <m:nor/>
                          </m:rPr>
                          <a:rPr lang="it-IT" sz="2000" dirty="0"/>
                          <m:t>s</m:t>
                        </m:r>
                        <m:r>
                          <m:rPr>
                            <m:nor/>
                          </m:rPr>
                          <a:rPr lang="it-IT" sz="2000" dirty="0"/>
                          <m:t>+2118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it-IT" sz="2000"/>
                          <m:t>s</m:t>
                        </m:r>
                      </m:den>
                    </m:f>
                  </m:oMath>
                </a14:m>
                <a:endParaRPr lang="it-IT" sz="2000" dirty="0"/>
              </a:p>
              <a:p>
                <a:pPr/>
                <a:endParaRPr lang="it-IT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/>
                        <m:t>poli</m:t>
                      </m:r>
                      <m:r>
                        <a:rPr lang="it-IT" sz="2000"/>
                        <m:t> </m:t>
                      </m:r>
                      <m:r>
                        <m:rPr>
                          <m:sty m:val="p"/>
                        </m:rPr>
                        <a:rPr lang="it-IT" sz="2000"/>
                        <m:t>anello</m:t>
                      </m:r>
                      <m:r>
                        <a:rPr lang="it-IT" sz="2000"/>
                        <m:t> </m:t>
                      </m:r>
                      <m:r>
                        <m:rPr>
                          <m:sty m:val="p"/>
                        </m:rPr>
                        <a:rPr lang="it-IT" sz="2000"/>
                        <m:t>chius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it-IT" sz="2000"/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2000"/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000"/>
                                  <m:t>−</m:t>
                                </m:r>
                                <m:r>
                                  <a:rPr lang="it-IT" sz="2000"/>
                                  <m:t>75.2085 + 7.4473</m:t>
                                </m:r>
                                <m:r>
                                  <a:rPr lang="it-IT" sz="2000"/>
                                  <m:t>𝑖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sz="2000"/>
                                  <m:t>−75.2085 − 7.4473</m:t>
                                </m:r>
                                <m:r>
                                  <a:rPr lang="it-IT" sz="2000"/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sz="2000" dirty="0"/>
              </a:p>
            </p:txBody>
          </p:sp>
        </mc:Choice>
        <mc:Fallback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AF82EAA6-4E32-43BF-4DD0-575348735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270" y="1460115"/>
                <a:ext cx="5049530" cy="2019207"/>
              </a:xfrm>
              <a:prstGeom prst="rect">
                <a:avLst/>
              </a:prstGeom>
              <a:blipFill>
                <a:blip r:embed="rId3"/>
                <a:stretch>
                  <a:fillRect l="-1206" t="-181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25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9A238C-0FAC-F83F-310C-302CA609A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Stratagia Antiwindup </a:t>
            </a:r>
            <a:r>
              <a:rPr lang="it-IT" dirty="0"/>
              <a:t>(saturazione 23 volt)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95B44A-5BB4-23FB-FAB5-B4800B3F1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Metodi:</a:t>
            </a:r>
          </a:p>
          <a:p>
            <a:pPr lvl="1"/>
            <a:r>
              <a:rPr lang="it-IT" dirty="0"/>
              <a:t>Risposta senza saturazione (</a:t>
            </a:r>
            <a:r>
              <a:rPr lang="it-IT" dirty="0" err="1"/>
              <a:t>no_sat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Risposta con saturazione e senza </a:t>
            </a:r>
            <a:r>
              <a:rPr lang="it-IT" dirty="0" err="1"/>
              <a:t>antiwindup</a:t>
            </a:r>
            <a:r>
              <a:rPr lang="it-IT" dirty="0"/>
              <a:t> (</a:t>
            </a:r>
            <a:r>
              <a:rPr lang="it-IT" dirty="0" err="1"/>
              <a:t>sat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Clamping</a:t>
            </a:r>
            <a:r>
              <a:rPr lang="it-IT" dirty="0"/>
              <a:t> (</a:t>
            </a:r>
            <a:r>
              <a:rPr lang="it-IT" dirty="0" err="1"/>
              <a:t>clamp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Backcalculation</a:t>
            </a:r>
            <a:r>
              <a:rPr lang="it-IT" dirty="0"/>
              <a:t> (back)</a:t>
            </a:r>
          </a:p>
        </p:txBody>
      </p:sp>
      <p:pic>
        <p:nvPicPr>
          <p:cNvPr id="7" name="Segnaposto contenuto 6" descr="Immagine che contiene testo, linea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50CC8AEB-2BB4-8994-08BE-1460329E6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612" y="3294063"/>
            <a:ext cx="6712100" cy="31988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E8592F4-F0CA-37A5-1962-CF27D3E49355}"/>
              </a:ext>
            </a:extLst>
          </p:cNvPr>
          <p:cNvSpPr txBox="1"/>
          <p:nvPr/>
        </p:nvSpPr>
        <p:spPr>
          <a:xfrm>
            <a:off x="7659974" y="5365423"/>
            <a:ext cx="2853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Ingresso scalino a 5 volt non </a:t>
            </a:r>
          </a:p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Satura e comportamenti simili</a:t>
            </a:r>
          </a:p>
        </p:txBody>
      </p:sp>
    </p:spTree>
    <p:extLst>
      <p:ext uri="{BB962C8B-B14F-4D97-AF65-F5344CB8AC3E}">
        <p14:creationId xmlns:p14="http://schemas.microsoft.com/office/powerpoint/2010/main" val="2139282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C14B3-361A-90C3-A357-32BB23E0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Comportamento del </a:t>
            </a:r>
            <a:r>
              <a:rPr lang="it-IT" dirty="0" err="1"/>
              <a:t>antiwindup</a:t>
            </a:r>
            <a:endParaRPr lang="it-IT" dirty="0"/>
          </a:p>
        </p:txBody>
      </p:sp>
      <p:pic>
        <p:nvPicPr>
          <p:cNvPr id="9" name="Immagine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C025EF7-C681-A332-4883-906517E61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10" y="1859040"/>
            <a:ext cx="5782090" cy="27555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Segnaposto contenuto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A17B9FBC-445D-98AA-FAB8-60345FD2A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59039"/>
            <a:ext cx="5782090" cy="275559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0A73A22-6F7E-7FDF-2AB2-31158772E321}"/>
              </a:ext>
            </a:extLst>
          </p:cNvPr>
          <p:cNvSpPr txBox="1"/>
          <p:nvPr/>
        </p:nvSpPr>
        <p:spPr>
          <a:xfrm>
            <a:off x="8937523" y="3539613"/>
            <a:ext cx="176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scalino a 15 volt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21B5CD4-E529-5728-8100-C4673A599C4F}"/>
              </a:ext>
            </a:extLst>
          </p:cNvPr>
          <p:cNvSpPr txBox="1"/>
          <p:nvPr/>
        </p:nvSpPr>
        <p:spPr>
          <a:xfrm>
            <a:off x="3155433" y="3574026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scalino a 10 volt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A4E4141-DDCB-5BB1-253A-D6FAE79C73DB}"/>
              </a:ext>
            </a:extLst>
          </p:cNvPr>
          <p:cNvSpPr txBox="1"/>
          <p:nvPr/>
        </p:nvSpPr>
        <p:spPr>
          <a:xfrm>
            <a:off x="3347884" y="5147187"/>
            <a:ext cx="6374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>
                <a:solidFill>
                  <a:schemeClr val="tx2">
                    <a:lumMod val="25000"/>
                  </a:schemeClr>
                </a:solidFill>
              </a:rPr>
              <a:t>Nei casi in cui satura il </a:t>
            </a:r>
            <a:r>
              <a:rPr lang="it-IT" sz="2400" dirty="0" err="1">
                <a:solidFill>
                  <a:schemeClr val="tx2">
                    <a:lumMod val="25000"/>
                  </a:schemeClr>
                </a:solidFill>
              </a:rPr>
              <a:t>clamping</a:t>
            </a:r>
            <a:r>
              <a:rPr lang="it-IT" sz="2400" dirty="0">
                <a:solidFill>
                  <a:schemeClr val="tx2">
                    <a:lumMod val="25000"/>
                  </a:schemeClr>
                </a:solidFill>
              </a:rPr>
              <a:t> funziona bene</a:t>
            </a:r>
          </a:p>
        </p:txBody>
      </p:sp>
    </p:spTree>
    <p:extLst>
      <p:ext uri="{BB962C8B-B14F-4D97-AF65-F5344CB8AC3E}">
        <p14:creationId xmlns:p14="http://schemas.microsoft.com/office/powerpoint/2010/main" val="1282063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B21FF2-1D40-F311-9C98-14A8E2AC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Controllo anello esterno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0CA7FC9-DD4B-FD53-295A-0490EB4EEA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732449"/>
                <a:ext cx="10737431" cy="405875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it-IT" dirty="0"/>
                  <a:t>Al fine di controllare l’anello esterno viene svolta la </a:t>
                </a:r>
                <a:r>
                  <a:rPr lang="it-IT" b="1" dirty="0"/>
                  <a:t>linearizzazione nel punto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𝒆𝒒</m:t>
                        </m:r>
                      </m:sub>
                    </m:sSub>
                  </m:oMath>
                </a14:m>
                <a:r>
                  <a:rPr lang="it-IT" b="1" dirty="0"/>
                  <a:t>= 2.5mm</a:t>
                </a:r>
              </a:p>
              <a:p>
                <a:r>
                  <a:rPr lang="it-IT" dirty="0"/>
                  <a:t>Il controllore interno ha in ingresso corrente e in uscita tensione</a:t>
                </a:r>
              </a:p>
              <a:p>
                <a:r>
                  <a:rPr lang="it-IT" dirty="0"/>
                  <a:t>Ci vuole un controllore che ha in ingresso la posizione e in uscita la corrente</a:t>
                </a:r>
              </a:p>
              <a:p>
                <a:pPr marL="0" indent="0">
                  <a:buNone/>
                </a:pPr>
                <a:endParaRPr lang="it-IT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 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 </m:t>
                            </m:r>
                            <m:f>
                              <m:f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  <m:sup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it-IT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𝑚𝑔</m:t>
                                </m:r>
                              </m:e>
                            </m:d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d>
                                  <m:d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it-IT" dirty="0"/>
              </a:p>
              <a:p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E0CA7FC9-DD4B-FD53-295A-0490EB4EEA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732449"/>
                <a:ext cx="10737431" cy="4058751"/>
              </a:xfrm>
              <a:blipFill>
                <a:blip r:embed="rId2"/>
                <a:stretch>
                  <a:fillRect l="-909" t="-37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arentesi graffa chiusa 3">
            <a:extLst>
              <a:ext uri="{FF2B5EF4-FFF2-40B4-BE49-F238E27FC236}">
                <a16:creationId xmlns:a16="http://schemas.microsoft.com/office/drawing/2014/main" id="{7C1858D4-628E-356D-8C4B-0A4A313FC159}"/>
              </a:ext>
            </a:extLst>
          </p:cNvPr>
          <p:cNvSpPr/>
          <p:nvPr/>
        </p:nvSpPr>
        <p:spPr>
          <a:xfrm>
            <a:off x="5191431" y="5177012"/>
            <a:ext cx="560439" cy="36870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Parentesi graffa chiusa 4">
            <a:extLst>
              <a:ext uri="{FF2B5EF4-FFF2-40B4-BE49-F238E27FC236}">
                <a16:creationId xmlns:a16="http://schemas.microsoft.com/office/drawing/2014/main" id="{41E5A80B-C415-F7FE-B037-1CA011D137D5}"/>
              </a:ext>
            </a:extLst>
          </p:cNvPr>
          <p:cNvSpPr/>
          <p:nvPr/>
        </p:nvSpPr>
        <p:spPr>
          <a:xfrm>
            <a:off x="5191430" y="3811520"/>
            <a:ext cx="560439" cy="11200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D375872-A9E8-6D03-6599-474991C63C13}"/>
              </a:ext>
            </a:extLst>
          </p:cNvPr>
          <p:cNvSpPr txBox="1"/>
          <p:nvPr/>
        </p:nvSpPr>
        <p:spPr>
          <a:xfrm>
            <a:off x="6161531" y="5130533"/>
            <a:ext cx="3592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>
                <a:solidFill>
                  <a:schemeClr val="tx2">
                    <a:lumMod val="25000"/>
                  </a:schemeClr>
                </a:solidFill>
              </a:rPr>
              <a:t>Controllore anello interno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6CAB745-7DFB-47F5-775C-1DB0EA6B7EAF}"/>
              </a:ext>
            </a:extLst>
          </p:cNvPr>
          <p:cNvSpPr txBox="1"/>
          <p:nvPr/>
        </p:nvSpPr>
        <p:spPr>
          <a:xfrm>
            <a:off x="6096000" y="4140693"/>
            <a:ext cx="3657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>
                <a:solidFill>
                  <a:schemeClr val="tx2">
                    <a:lumMod val="25000"/>
                  </a:schemeClr>
                </a:solidFill>
              </a:rPr>
              <a:t>Controllore anello esterno</a:t>
            </a:r>
          </a:p>
        </p:txBody>
      </p:sp>
    </p:spTree>
    <p:extLst>
      <p:ext uri="{BB962C8B-B14F-4D97-AF65-F5344CB8AC3E}">
        <p14:creationId xmlns:p14="http://schemas.microsoft.com/office/powerpoint/2010/main" val="165354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0D8F4F-DAC0-026A-BF04-A1B20E8A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Modello linearizzato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ED12B87-CE02-87FD-1326-A8A679E95F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dirty="0"/>
                  <a:t>Funzione di trasferimento del circuito magnetico linearizzato nella posizione a 2.5mm dal piedistallo:</a:t>
                </a:r>
              </a:p>
              <a:p>
                <a:pPr marL="36900" indent="0">
                  <a:buNone/>
                </a:pPr>
                <a:r>
                  <a:rPr lang="it-IT" sz="2800" dirty="0"/>
                  <a:t>G2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12.76</m:t>
                        </m:r>
                      </m:num>
                      <m:den>
                        <m:sSup>
                          <m:sSupPr>
                            <m:ctrlPr>
                              <a:rPr lang="it-IT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it-IT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t-IT" sz="2800" b="0" i="1" smtClean="0">
                            <a:latin typeface="Cambria Math" panose="02040503050406030204" pitchFamily="18" charset="0"/>
                          </a:rPr>
                          <m:t>−2074</m:t>
                        </m:r>
                      </m:den>
                    </m:f>
                  </m:oMath>
                </a14:m>
                <a:endParaRPr lang="it-IT" dirty="0"/>
              </a:p>
              <a:p>
                <a:pPr marL="36900" indent="0">
                  <a:buNone/>
                </a:pPr>
                <a:r>
                  <a:rPr lang="it-IT" dirty="0"/>
                  <a:t>Poli =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45.5 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ED12B87-CE02-87FD-1326-A8A679E95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6ABE19AB-E80E-E8AF-775C-E689621A2B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785" y="2248399"/>
            <a:ext cx="5886812" cy="441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77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A4C0B2-BEE7-4A5E-84EA-ED229F5A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255639"/>
            <a:ext cx="10353762" cy="970450"/>
          </a:xfrm>
        </p:spPr>
        <p:txBody>
          <a:bodyPr>
            <a:normAutofit/>
          </a:bodyPr>
          <a:lstStyle/>
          <a:p>
            <a:r>
              <a:rPr lang="it-IT" sz="3600" dirty="0"/>
              <a:t>Controllo esterno singolo: controllore con integratore</a:t>
            </a:r>
          </a:p>
        </p:txBody>
      </p:sp>
      <p:pic>
        <p:nvPicPr>
          <p:cNvPr id="5" name="Segnaposto contenuto 4" descr="Immagine che contiene testo, linea, numero, schermata&#10;&#10;Il contenuto generato dall'IA potrebbe non essere corretto.">
            <a:extLst>
              <a:ext uri="{FF2B5EF4-FFF2-40B4-BE49-F238E27FC236}">
                <a16:creationId xmlns:a16="http://schemas.microsoft.com/office/drawing/2014/main" id="{5704E7EB-23EF-DAF6-0416-28387543F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290" y="1226089"/>
            <a:ext cx="9299893" cy="4059237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86D38B6-E2BD-BA89-391B-C942E0A12C28}"/>
              </a:ext>
            </a:extLst>
          </p:cNvPr>
          <p:cNvSpPr txBox="1"/>
          <p:nvPr/>
        </p:nvSpPr>
        <p:spPr>
          <a:xfrm>
            <a:off x="1441290" y="5285326"/>
            <a:ext cx="9643409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Problemi: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La presenza del integratore fa partire la fase da -270 (necessita la presenza di 2 zeri)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La frequenza di taglio è troppo elevata 101 rad/s con anello interno a 123 rad/s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Nonostante questi compromessi la </a:t>
            </a:r>
            <a:r>
              <a:rPr lang="it-IT" sz="2000" dirty="0" err="1">
                <a:solidFill>
                  <a:schemeClr val="tx2">
                    <a:lumMod val="25000"/>
                  </a:schemeClr>
                </a:solidFill>
              </a:rPr>
              <a:t>sovraelongazione</a:t>
            </a:r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 è elevata (circa 70%)</a:t>
            </a:r>
          </a:p>
        </p:txBody>
      </p:sp>
    </p:spTree>
    <p:extLst>
      <p:ext uri="{BB962C8B-B14F-4D97-AF65-F5344CB8AC3E}">
        <p14:creationId xmlns:p14="http://schemas.microsoft.com/office/powerpoint/2010/main" val="203631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4E5B84-E2AE-622D-0872-ABEE7737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600" dirty="0"/>
              <a:t>Controllo esterno singolo: controllore con integratore</a:t>
            </a:r>
            <a:endParaRPr lang="it-IT" dirty="0"/>
          </a:p>
        </p:txBody>
      </p:sp>
      <p:pic>
        <p:nvPicPr>
          <p:cNvPr id="5" name="Segnaposto contenuto 4" descr="Immagine che contiene linea, testo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B6D23D3-85D0-8CB3-D966-F57A40ADF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84" y="1717214"/>
            <a:ext cx="7748049" cy="4059237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9AB630-F668-892F-6C15-2BB5D11897D7}"/>
              </a:ext>
            </a:extLst>
          </p:cNvPr>
          <p:cNvSpPr txBox="1"/>
          <p:nvPr/>
        </p:nvSpPr>
        <p:spPr>
          <a:xfrm>
            <a:off x="9143999" y="2920181"/>
            <a:ext cx="29895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 err="1">
                <a:solidFill>
                  <a:schemeClr val="tx2">
                    <a:lumMod val="25000"/>
                  </a:schemeClr>
                </a:solidFill>
              </a:rPr>
              <a:t>Sovraelongazione</a:t>
            </a:r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 elevata</a:t>
            </a:r>
          </a:p>
          <a:p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Circa 70%</a:t>
            </a:r>
          </a:p>
        </p:txBody>
      </p:sp>
    </p:spTree>
    <p:extLst>
      <p:ext uri="{BB962C8B-B14F-4D97-AF65-F5344CB8AC3E}">
        <p14:creationId xmlns:p14="http://schemas.microsoft.com/office/powerpoint/2010/main" val="2440427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egnaposto contenuto 8" descr="Immagine che contiene testo, diagramma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64576845-677A-FB69-8C94-5DF3C0440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710" y="630910"/>
            <a:ext cx="6221225" cy="2964874"/>
          </a:xfrm>
          <a:prstGeom prst="rect">
            <a:avLst/>
          </a:prstGeom>
        </p:spPr>
      </p:pic>
      <p:pic>
        <p:nvPicPr>
          <p:cNvPr id="7" name="Immagine 6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5BA88670-811A-DC11-8591-CFD715938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65" y="973394"/>
            <a:ext cx="5548725" cy="2455606"/>
          </a:xfrm>
          <a:prstGeom prst="rect">
            <a:avLst/>
          </a:prstGeom>
        </p:spPr>
      </p:pic>
      <p:pic>
        <p:nvPicPr>
          <p:cNvPr id="6" name="Immagine 5" descr="Immagine che contiene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8345832E-1FAB-6E76-2096-744C5BB3C7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845" y="3753955"/>
            <a:ext cx="5462229" cy="277958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B3F9091-79F5-8077-1E54-2497E11388A9}"/>
              </a:ext>
            </a:extLst>
          </p:cNvPr>
          <p:cNvSpPr txBox="1"/>
          <p:nvPr/>
        </p:nvSpPr>
        <p:spPr>
          <a:xfrm>
            <a:off x="7698658" y="4911213"/>
            <a:ext cx="430624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i="1" dirty="0">
                <a:solidFill>
                  <a:schemeClr val="tx2">
                    <a:lumMod val="25000"/>
                  </a:schemeClr>
                </a:solidFill>
              </a:rPr>
              <a:t>Simulazione </a:t>
            </a:r>
            <a:r>
              <a:rPr lang="it-IT" sz="2000" i="1" dirty="0" err="1">
                <a:solidFill>
                  <a:schemeClr val="tx2">
                    <a:lumMod val="25000"/>
                  </a:schemeClr>
                </a:solidFill>
              </a:rPr>
              <a:t>simulink</a:t>
            </a:r>
            <a:r>
              <a:rPr lang="it-IT" sz="2000" i="1" dirty="0">
                <a:solidFill>
                  <a:schemeClr val="tx2">
                    <a:lumMod val="25000"/>
                  </a:schemeClr>
                </a:solidFill>
              </a:rPr>
              <a:t>:</a:t>
            </a:r>
          </a:p>
          <a:p>
            <a:r>
              <a:rPr lang="it-IT" sz="2000" i="1" dirty="0">
                <a:solidFill>
                  <a:schemeClr val="tx2">
                    <a:lumMod val="25000"/>
                  </a:schemeClr>
                </a:solidFill>
              </a:rPr>
              <a:t>Essendo le frequenze dei controllori</a:t>
            </a:r>
          </a:p>
          <a:p>
            <a:r>
              <a:rPr lang="it-IT" sz="2000" i="1" dirty="0">
                <a:solidFill>
                  <a:schemeClr val="tx2">
                    <a:lumMod val="25000"/>
                  </a:schemeClr>
                </a:solidFill>
              </a:rPr>
              <a:t>Paragonabili l’anello interno influenza</a:t>
            </a:r>
          </a:p>
          <a:p>
            <a:r>
              <a:rPr lang="it-IT" sz="2000" i="1" dirty="0">
                <a:solidFill>
                  <a:schemeClr val="tx2">
                    <a:lumMod val="25000"/>
                  </a:schemeClr>
                </a:solidFill>
              </a:rPr>
              <a:t>Molto l’anello esterno</a:t>
            </a:r>
          </a:p>
        </p:txBody>
      </p:sp>
    </p:spTree>
    <p:extLst>
      <p:ext uri="{BB962C8B-B14F-4D97-AF65-F5344CB8AC3E}">
        <p14:creationId xmlns:p14="http://schemas.microsoft.com/office/powerpoint/2010/main" val="228803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EE3FBE-A1D7-D971-F6C8-2CEA2CAE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/>
              <a:t>Controllo esterno 2 anelli: controllore più integratore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FF9E9A4-703E-EADD-7576-45A8CECD3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Alternativa al fine di ottenere un controllore più lento e con elongazioni meno marcate</a:t>
            </a:r>
          </a:p>
        </p:txBody>
      </p:sp>
      <p:pic>
        <p:nvPicPr>
          <p:cNvPr id="4" name="Immagine 3" descr="Immagine che contiene schermata, diagramma, giallo, linea&#10;&#10;Il contenuto generato dall'IA potrebbe non essere corretto.">
            <a:extLst>
              <a:ext uri="{FF2B5EF4-FFF2-40B4-BE49-F238E27FC236}">
                <a16:creationId xmlns:a16="http://schemas.microsoft.com/office/drawing/2014/main" id="{0CEF2DC2-59A7-E8A0-2FBC-801D32ECC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62" y="2653278"/>
            <a:ext cx="10830627" cy="221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88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586F8C-1562-51A7-E140-B8E73BB5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0530"/>
            <a:ext cx="10353762" cy="970450"/>
          </a:xfrm>
        </p:spPr>
        <p:txBody>
          <a:bodyPr/>
          <a:lstStyle/>
          <a:p>
            <a:r>
              <a:rPr lang="it-IT" dirty="0"/>
              <a:t>Anello stabilizzante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541E59-FB2F-D135-5599-4970D5C44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240980"/>
            <a:ext cx="10353762" cy="4058751"/>
          </a:xfrm>
        </p:spPr>
        <p:txBody>
          <a:bodyPr/>
          <a:lstStyle/>
          <a:p>
            <a:r>
              <a:rPr lang="it-IT" dirty="0"/>
              <a:t>Pulsazione critica piu bassa (41.1 rad/s) ma comunque lontana dai 12.3 per avere anello interno unitario. </a:t>
            </a:r>
          </a:p>
          <a:p>
            <a:r>
              <a:rPr lang="it-IT" dirty="0"/>
              <a:t>Margine di fase ridotto (19.7°)</a:t>
            </a:r>
          </a:p>
        </p:txBody>
      </p:sp>
      <p:pic>
        <p:nvPicPr>
          <p:cNvPr id="4" name="Segnaposto contenuto 1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AC77D002-E678-7F3D-D752-724B7BF83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105" y="2528719"/>
            <a:ext cx="9270556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334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5421CDB7-7A53-F09E-4047-590FC9631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Anello stabilizzante</a:t>
            </a:r>
          </a:p>
        </p:txBody>
      </p:sp>
      <p:pic>
        <p:nvPicPr>
          <p:cNvPr id="5" name="Segnaposto contenuto 4" descr="Immagine che contiene testo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ED18303D-0073-ABFD-977D-723B5448E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415" y="1399381"/>
            <a:ext cx="9065371" cy="405923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2720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D63E937B-E418-4856-1195-F9C106E12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664" y="2825157"/>
            <a:ext cx="6754521" cy="3457512"/>
          </a:xfrm>
          <a:prstGeom prst="rect">
            <a:avLst/>
          </a:prstGeom>
        </p:spPr>
      </p:pic>
      <p:sp>
        <p:nvSpPr>
          <p:cNvPr id="4" name="Titolo 1">
            <a:extLst>
              <a:ext uri="{FF2B5EF4-FFF2-40B4-BE49-F238E27FC236}">
                <a16:creationId xmlns:a16="http://schemas.microsoft.com/office/drawing/2014/main" id="{EF50D63E-7080-C16D-0EF8-164B792C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0530"/>
            <a:ext cx="10353762" cy="970450"/>
          </a:xfrm>
        </p:spPr>
        <p:txBody>
          <a:bodyPr/>
          <a:lstStyle/>
          <a:p>
            <a:r>
              <a:rPr lang="it-IT" dirty="0"/>
              <a:t>Anello stabilizzante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FD9358-9697-7972-7D98-137DD7528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Sovraelongazione</a:t>
            </a:r>
            <a:r>
              <a:rPr lang="it-IT" dirty="0"/>
              <a:t> ridotta (25-30%)</a:t>
            </a:r>
          </a:p>
          <a:p>
            <a:r>
              <a:rPr lang="it-IT" dirty="0"/>
              <a:t>Tempo di assestamento 0.3 s</a:t>
            </a:r>
          </a:p>
        </p:txBody>
      </p:sp>
    </p:spTree>
    <p:extLst>
      <p:ext uri="{BB962C8B-B14F-4D97-AF65-F5344CB8AC3E}">
        <p14:creationId xmlns:p14="http://schemas.microsoft.com/office/powerpoint/2010/main" val="4165669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808064-6677-6B2C-314D-F1C30F957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849"/>
            <a:ext cx="10515600" cy="1325563"/>
          </a:xfrm>
        </p:spPr>
        <p:txBody>
          <a:bodyPr/>
          <a:lstStyle/>
          <a:p>
            <a:r>
              <a:rPr lang="it-IT" dirty="0"/>
              <a:t>Anello per il tracking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128DC3-6451-735B-2FE1-10008BC4F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489"/>
            <a:ext cx="10515600" cy="4351338"/>
          </a:xfrm>
        </p:spPr>
        <p:txBody>
          <a:bodyPr/>
          <a:lstStyle/>
          <a:p>
            <a:r>
              <a:rPr lang="it-IT" dirty="0"/>
              <a:t>Anello meno critico: pulsazione critica 3.78 rad/s (&lt;4.1 rad/s) e margine fase elevato</a:t>
            </a:r>
          </a:p>
        </p:txBody>
      </p:sp>
      <p:pic>
        <p:nvPicPr>
          <p:cNvPr id="4" name="Segnaposto contenuto 4" descr="Immagine che contiene testo, linea, Diagramma, numero&#10;&#10;Il contenuto generato dall'IA potrebbe non essere corretto.">
            <a:extLst>
              <a:ext uri="{FF2B5EF4-FFF2-40B4-BE49-F238E27FC236}">
                <a16:creationId xmlns:a16="http://schemas.microsoft.com/office/drawing/2014/main" id="{BE9C16ED-449A-0BA2-C674-F1E733020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74" y="2548526"/>
            <a:ext cx="8854548" cy="39068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8543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C0190F1A-AC56-2ECD-A791-B840035CC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45" y="560439"/>
            <a:ext cx="7166151" cy="3256782"/>
          </a:xfrm>
        </p:spPr>
      </p:pic>
      <p:pic>
        <p:nvPicPr>
          <p:cNvPr id="9" name="Immagine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3AA710DD-A1FE-6223-531C-C8D29A4867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884" y="2750455"/>
            <a:ext cx="5559603" cy="363062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F74AFA7-89CE-992C-C113-0D51A6BC7D31}"/>
              </a:ext>
            </a:extLst>
          </p:cNvPr>
          <p:cNvSpPr txBox="1"/>
          <p:nvPr/>
        </p:nvSpPr>
        <p:spPr>
          <a:xfrm>
            <a:off x="7285219" y="4729816"/>
            <a:ext cx="2876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>
                <a:solidFill>
                  <a:schemeClr val="tx2">
                    <a:lumMod val="25000"/>
                  </a:schemeClr>
                </a:solidFill>
              </a:rPr>
              <a:t>Risposta sufficientemente lenta</a:t>
            </a:r>
          </a:p>
        </p:txBody>
      </p:sp>
    </p:spTree>
    <p:extLst>
      <p:ext uri="{BB962C8B-B14F-4D97-AF65-F5344CB8AC3E}">
        <p14:creationId xmlns:p14="http://schemas.microsoft.com/office/powerpoint/2010/main" val="833968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1DF8F8-50A9-F47D-D6DC-D74163D6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t-IT" sz="3200" dirty="0"/>
              <a:t>Controllo esterno 2 anelli: controllore più integratore </a:t>
            </a:r>
          </a:p>
        </p:txBody>
      </p:sp>
      <p:pic>
        <p:nvPicPr>
          <p:cNvPr id="5" name="Segnaposto contenuto 4" descr="Immagine che contiene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A67D47E7-3815-F8F8-1400-8DAE323A7B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15" y="1908944"/>
            <a:ext cx="7702270" cy="3518461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471A7C5-6055-B3CA-5D7F-E700197A2F57}"/>
              </a:ext>
            </a:extLst>
          </p:cNvPr>
          <p:cNvSpPr txBox="1"/>
          <p:nvPr/>
        </p:nvSpPr>
        <p:spPr>
          <a:xfrm>
            <a:off x="2521973" y="5720729"/>
            <a:ext cx="83744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La presenza dello stabilizzatore con pulsazione critica 41 rad/s &gt;12.3 rad/s</a:t>
            </a:r>
          </a:p>
          <a:p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Causa le oscillazioni per la dinamica non nulla del controllore elettrico</a:t>
            </a:r>
          </a:p>
        </p:txBody>
      </p:sp>
    </p:spTree>
    <p:extLst>
      <p:ext uri="{BB962C8B-B14F-4D97-AF65-F5344CB8AC3E}">
        <p14:creationId xmlns:p14="http://schemas.microsoft.com/office/powerpoint/2010/main" val="739587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99190-386D-3FF5-9360-2D1C4075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Problema per partenza diversa da zero</a:t>
            </a:r>
          </a:p>
        </p:txBody>
      </p:sp>
      <p:pic>
        <p:nvPicPr>
          <p:cNvPr id="9" name="Segnaposto contenuto 8" descr="Immagine che contiene schermata, giallo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7055611B-48F1-D156-0F0E-D1987B572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41" y="2218357"/>
            <a:ext cx="11890518" cy="2304889"/>
          </a:xfr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9420215-A1A6-CDE2-DAE3-92C21BD557E5}"/>
              </a:ext>
            </a:extLst>
          </p:cNvPr>
          <p:cNvSpPr txBox="1"/>
          <p:nvPr/>
        </p:nvSpPr>
        <p:spPr>
          <a:xfrm>
            <a:off x="1124220" y="5029202"/>
            <a:ext cx="110237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Nel caso reale il controllore partirà da una situazione in cui il circuito elettrico sarà già caricato </a:t>
            </a:r>
          </a:p>
          <a:p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E la posizione non sarà nulla.</a:t>
            </a:r>
          </a:p>
          <a:p>
            <a:r>
              <a:rPr lang="it-IT" sz="2000" dirty="0">
                <a:solidFill>
                  <a:schemeClr val="tx2">
                    <a:lumMod val="25000"/>
                  </a:schemeClr>
                </a:solidFill>
              </a:rPr>
              <a:t>Nel tentativo di fare una simulazione che parta da una posizione diversa il controllore non stabilizza</a:t>
            </a:r>
          </a:p>
        </p:txBody>
      </p:sp>
    </p:spTree>
    <p:extLst>
      <p:ext uri="{BB962C8B-B14F-4D97-AF65-F5344CB8AC3E}">
        <p14:creationId xmlns:p14="http://schemas.microsoft.com/office/powerpoint/2010/main" val="2968946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3E421F-C963-1FA7-F4B0-5B986F50A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600" dirty="0"/>
              <a:t>Controllo esterno 2 anelli: controllore più compensatore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D98B2E-D143-9EC9-1544-A93943B78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53461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535</Words>
  <Application>Microsoft Office PowerPoint</Application>
  <PresentationFormat>Widescreen</PresentationFormat>
  <Paragraphs>80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Tema di Office</vt:lpstr>
      <vt:lpstr>Controllo in cascata</vt:lpstr>
      <vt:lpstr>Possibili Controllori</vt:lpstr>
      <vt:lpstr>Controllore elettrico anello interno: Limitazione per w_c</vt:lpstr>
      <vt:lpstr>Controllore elettrico anello interno</vt:lpstr>
      <vt:lpstr>Stratagia Antiwindup (saturazione 23 volt)</vt:lpstr>
      <vt:lpstr>Comportamento del antiwindup</vt:lpstr>
      <vt:lpstr>Controllo anello esterno</vt:lpstr>
      <vt:lpstr>Modello linearizzato</vt:lpstr>
      <vt:lpstr>Controllo esterno singolo: controllore con integratore</vt:lpstr>
      <vt:lpstr>Controllo esterno singolo: controllore con integratore</vt:lpstr>
      <vt:lpstr>Presentazione standard di PowerPoint</vt:lpstr>
      <vt:lpstr>Controllo esterno 2 anelli: controllore più integratore</vt:lpstr>
      <vt:lpstr>Anello stabilizzante</vt:lpstr>
      <vt:lpstr>Anello stabilizzante</vt:lpstr>
      <vt:lpstr>Anello stabilizzante</vt:lpstr>
      <vt:lpstr>Anello per il tracking</vt:lpstr>
      <vt:lpstr>Presentazione standard di PowerPoint</vt:lpstr>
      <vt:lpstr>Controllo esterno 2 anelli: controllore più integratore </vt:lpstr>
      <vt:lpstr>Problema per partenza diversa da zero</vt:lpstr>
      <vt:lpstr>Controllo esterno 2 anelli: controllore più compensatore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Berti</dc:creator>
  <cp:lastModifiedBy>Lorenzo Berti</cp:lastModifiedBy>
  <cp:revision>4</cp:revision>
  <dcterms:created xsi:type="dcterms:W3CDTF">2025-04-09T08:43:13Z</dcterms:created>
  <dcterms:modified xsi:type="dcterms:W3CDTF">2025-04-09T14:03:44Z</dcterms:modified>
</cp:coreProperties>
</file>